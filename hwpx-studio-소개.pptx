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88552" y="1527048"/>
            <a:ext cx="2441448" cy="2441448"/>
          </a:xfrm>
          <a:prstGeom prst="ellipse">
            <a:avLst/>
          </a:prstGeom>
          <a:solidFill>
            <a:srgbClr val="C6D9EC">
              <a:alpha val="40000"/>
            </a:srgbClr>
          </a:solidFill>
          <a:ln w="12700">
            <a:solidFill>
              <a:srgbClr val="C6D9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28048" y="3044952"/>
            <a:ext cx="3044952" cy="3044952"/>
          </a:xfrm>
          <a:prstGeom prst="ellipse">
            <a:avLst/>
          </a:prstGeom>
          <a:solidFill>
            <a:srgbClr val="C6D9EC">
              <a:alpha val="25000"/>
            </a:srgbClr>
          </a:solidFill>
          <a:ln w="12700">
            <a:solidFill>
              <a:srgbClr val="C6D9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45752" y="-914400"/>
            <a:ext cx="3657600" cy="3657600"/>
          </a:xfrm>
          <a:prstGeom prst="ellipse">
            <a:avLst/>
          </a:prstGeom>
          <a:solidFill>
            <a:srgbClr val="EFF6FF">
              <a:alpha val="30000"/>
            </a:srgbClr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73352" y="6217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7415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마커를 붙인 텍스트로 한글 보고서를 만드는 도구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73352" y="10972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hwpx</a:t>
            </a:r>
            <a:pPr indent="0" marL="0">
              <a:buNone/>
            </a:pPr>
            <a:r>
              <a:rPr lang="en-US" sz="54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-studio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1673352" y="2834640"/>
            <a:ext cx="2286000" cy="0"/>
          </a:xfrm>
          <a:prstGeom prst="line">
            <a:avLst/>
          </a:prstGeom>
          <a:noFill/>
          <a:ln w="9525">
            <a:solidFill>
              <a:srgbClr val="0045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73352" y="310896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서식을 재현하지 않고 — 쓰던 양식을 그대로 보존한다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673352" y="4160520"/>
            <a:ext cx="3108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73352" y="4251960"/>
            <a:ext cx="54864" cy="1005840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9384" y="43525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브라우저에서 바로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9384" y="47000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설치 없이 · 서버 전송 없음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83480" y="4160520"/>
            <a:ext cx="3108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4251960"/>
            <a:ext cx="54864" cy="1005840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9512" y="43525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파이썬 CLI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39512" y="47000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hwpx-studio build / capture / formkit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93608" y="4160520"/>
            <a:ext cx="3108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4251960"/>
            <a:ext cx="54864" cy="1005840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43525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AI 에이전트 스킬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49640" y="47000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양식 꾸러미를 주면 그 서식대로 작성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73352" y="59436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한글(.hwpx) 문서 생성 · 도식 · 양식 보존 · 되돌리기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64592" y="6446520"/>
            <a:ext cx="182880" cy="182880"/>
          </a:xfrm>
          <a:prstGeom prst="ellipse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91440" cy="502920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핵심 매커니즘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29184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서식을 다루는 두 갈래 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34440"/>
            <a:ext cx="5486400" cy="3429000"/>
          </a:xfrm>
          <a:prstGeom prst="roundRect">
            <a:avLst>
              <a:gd name="adj" fmla="val 16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72184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B55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5296" y="14721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서식 재현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075688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프로파일 JSON을 읽어 문서를 새로 짓는다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478024"/>
            <a:ext cx="45720" cy="420624"/>
          </a:xfrm>
          <a:prstGeom prst="rect">
            <a:avLst/>
          </a:prstGeom>
          <a:solidFill>
            <a:srgbClr val="1E60A0"/>
          </a:solidFill>
          <a:ln w="12700">
            <a:solidFill>
              <a:srgbClr val="1E6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프로파일 JSON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2679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글꼴·크기·자간·들여쓰기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099816"/>
            <a:ext cx="45720" cy="420624"/>
          </a:xfrm>
          <a:prstGeom prst="rect">
            <a:avLst/>
          </a:prstGeom>
          <a:solidFill>
            <a:srgbClr val="1E60A0"/>
          </a:solidFill>
          <a:ln w="12700">
            <a:solidFill>
              <a:srgbClr val="1E6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044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빈 문서에 주입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" y="33009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스타일·문단모양·글자모양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721608"/>
            <a:ext cx="45720" cy="420624"/>
          </a:xfrm>
          <a:prstGeom prst="rect">
            <a:avLst/>
          </a:prstGeom>
          <a:solidFill>
            <a:srgbClr val="1E60A0"/>
          </a:solidFill>
          <a:ln w="12700">
            <a:solidFill>
              <a:srgbClr val="1E6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666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hwpx 산출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" y="39227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내장 서식 4종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4215384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1C1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한계  한글 자동 글머리표·번호는 못 옮긴다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27648" y="1234440"/>
            <a:ext cx="5486400" cy="3429000"/>
          </a:xfrm>
          <a:prstGeom prst="roundRect">
            <a:avLst>
              <a:gd name="adj" fmla="val 1600"/>
            </a:avLst>
          </a:prstGeom>
          <a:solidFill>
            <a:srgbClr val="EFF6FF"/>
          </a:solidFill>
          <a:ln w="12700">
            <a:solidFill>
              <a:srgbClr val="C6D9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7648" y="1325880"/>
            <a:ext cx="54864" cy="3246120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1472184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45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68896" y="14721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서식 보존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583680" y="2075688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쓰던 양식을 템플릿으로 두고 본문만 갈아 끼운다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83680" y="2478024"/>
            <a:ext cx="45720" cy="420624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양식.hwpx 업로드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84848" y="2679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기관에서 쓰던 그 파일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583680" y="3099816"/>
            <a:ext cx="45720" cy="420624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3044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header.xml 무변경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84848" y="33009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스타일·글머리표 정의를 그대로 둔다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583680" y="3721608"/>
            <a:ext cx="45720" cy="420624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3666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section0.xml 본문만 교체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84848" y="39227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용지 설정·표지는 앞부분에 보존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583680" y="4215384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8A65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결과  글꼴·자간·글머리표가 원본과 같다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84048" y="4956048"/>
            <a:ext cx="11430000" cy="960120"/>
          </a:xfrm>
          <a:prstGeom prst="roundRect">
            <a:avLst>
              <a:gd name="adj" fmla="val 9524"/>
            </a:avLst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9560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header.xml 무변경</a:t>
            </a:r>
            <a:pPr algn="ctr" indent="0" marL="0">
              <a:buNone/>
            </a:pPr>
            <a:r>
              <a:rPr lang="en-US" sz="2000" dirty="0">
                <a:solidFill>
                  <a:srgbClr val="C6D9E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 =   서식이 </a:t>
            </a:r>
            <a:pPr algn="ctr" indent="0" marL="0">
              <a:buNone/>
            </a:pPr>
            <a:r>
              <a:rPr lang="en-US" sz="2000" dirty="0">
                <a:solidFill>
                  <a:srgbClr val="C6D9E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‘재현’</a:t>
            </a:r>
            <a:pPr algn="ctr" indent="0" marL="0">
              <a:buNone/>
            </a:pPr>
            <a:r>
              <a:rPr lang="en-US" sz="2000" dirty="0">
                <a:solidFill>
                  <a:srgbClr val="C6D9E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이 아니라 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‘보존’</a:t>
            </a:r>
            <a:pPr algn="ctr" indent="0" marL="0">
              <a:buNone/>
            </a:pPr>
            <a:r>
              <a:rPr lang="en-US" sz="2000" dirty="0">
                <a:solidFill>
                  <a:srgbClr val="C6D9E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된다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91440" cy="502920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과정과 결과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29184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네 갈래 — 무엇을 넣으면 무엇이 나오는가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88720"/>
            <a:ext cx="11430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80160"/>
            <a:ext cx="54864" cy="896112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499616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45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4996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양식으로 도구 만들기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0" y="1399032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39903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양식.hwpx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06440" y="139903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60A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1399032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39903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56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양식 해부 (formkit)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139903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60A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778240" y="1399032"/>
            <a:ext cx="2834640" cy="658368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13990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꾸러미 — 템플릿 · form.json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build_form.py · SKILL.md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4048" y="2368296"/>
            <a:ext cx="11430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459736"/>
            <a:ext cx="54864" cy="896112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2679192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45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26791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도식을 한글 표로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3657600" y="2578608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57860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도식 문법 · Mermaid · SVG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06440" y="2578608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60A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217920" y="2578608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57860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56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격자 배치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66760" y="2578608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60A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778240" y="2578608"/>
            <a:ext cx="2834640" cy="658368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25786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편집 가능한 한글 표 (.hwpx)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84048" y="3547872"/>
            <a:ext cx="11430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3639312"/>
            <a:ext cx="54864" cy="896112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" y="3858768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45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88720" y="3858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서식 없는 문서 맞추기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3657600" y="3758184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375818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밋밋한 hwpx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806440" y="3758184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60A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217920" y="3758184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75818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56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되돌리기 (readback)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66760" y="3758184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60A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→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8778240" y="3758184"/>
            <a:ext cx="2834640" cy="658368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0" y="37581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마커 텍스트 + 근거 보고서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384048" y="4727448"/>
            <a:ext cx="114300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" y="4818888"/>
            <a:ext cx="54864" cy="896112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" y="5038344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457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88720" y="50383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여기서 바로 쓰기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3657600" y="493776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0" y="493776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마커 텍스트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806440" y="493776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60A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6217920" y="4937760"/>
            <a:ext cx="2148840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493776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56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내장 서식 4종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366760" y="493776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60A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→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8778240" y="4937760"/>
            <a:ext cx="2834640" cy="658368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78240" y="49377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완성된 보고서 (.hwpx)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384048" y="5989320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모든 갈래는 브라우저 안에서 처리됩니다 — 올린 파일이 서버로 전송되지 않습니다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91440" cy="502920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도식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29184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그림이 아니라 ‘표’로 그린다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70432"/>
            <a:ext cx="2176272" cy="420624"/>
          </a:xfrm>
          <a:prstGeom prst="roundRect">
            <a:avLst>
              <a:gd name="adj" fmla="val 2173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조직도 org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88336" y="1170432"/>
            <a:ext cx="2176272" cy="420624"/>
          </a:xfrm>
          <a:prstGeom prst="roundRect">
            <a:avLst>
              <a:gd name="adj" fmla="val 2173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117043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절차도 flow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92624" y="1170432"/>
            <a:ext cx="2176272" cy="420624"/>
          </a:xfrm>
          <a:prstGeom prst="roundRect">
            <a:avLst>
              <a:gd name="adj" fmla="val 2173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2624" y="117043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매트릭스 matrix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96912" y="1170432"/>
            <a:ext cx="2176272" cy="420624"/>
          </a:xfrm>
          <a:prstGeom prst="roundRect">
            <a:avLst>
              <a:gd name="adj" fmla="val 2173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96912" y="117043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전략체계도 strategy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01200" y="1170432"/>
            <a:ext cx="2176272" cy="420624"/>
          </a:xfrm>
          <a:prstGeom prst="roundRect">
            <a:avLst>
              <a:gd name="adj" fmla="val 2173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0" y="117043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DB구성 db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1755648"/>
            <a:ext cx="11430000" cy="868680"/>
          </a:xfrm>
          <a:prstGeom prst="roundRect">
            <a:avLst>
              <a:gd name="adj" fmla="val 10526"/>
            </a:avLst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7556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6D9E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연결선을 그림이 아니라 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표 셀의 ‘한 변 테두리’</a:t>
            </a:r>
            <a:pPr algn="ctr" indent="0" marL="0">
              <a:buNone/>
            </a:pPr>
            <a:r>
              <a:rPr lang="en-US" sz="1900" dirty="0">
                <a:solidFill>
                  <a:srgbClr val="C6D9E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로 그린다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384048" y="2788920"/>
            <a:ext cx="4846320" cy="2377440"/>
          </a:xfrm>
          <a:prstGeom prst="roundRect">
            <a:avLst>
              <a:gd name="adj" fmla="val 2308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443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입력 — 2칸 들여쓰기 트리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310128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:::diagram type=org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추진단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기획반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구축반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:::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30368" y="2788920"/>
            <a:ext cx="640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870448" y="2788920"/>
            <a:ext cx="59436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6D9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9443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결과 — 한글에서 편집 가능한 표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18120" y="3401568"/>
            <a:ext cx="2057400" cy="475488"/>
          </a:xfrm>
          <a:prstGeom prst="rect">
            <a:avLst/>
          </a:prstGeom>
          <a:solidFill>
            <a:srgbClr val="00457C"/>
          </a:solidFill>
          <a:ln w="12700">
            <a:solidFill>
              <a:srgbClr val="0035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34015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추진단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846820" y="3877056"/>
            <a:ext cx="0" cy="274320"/>
          </a:xfrm>
          <a:prstGeom prst="line">
            <a:avLst/>
          </a:prstGeom>
          <a:noFill/>
          <a:ln w="15875">
            <a:solidFill>
              <a:srgbClr val="0045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29500" y="4151376"/>
            <a:ext cx="2834640" cy="0"/>
          </a:xfrm>
          <a:prstGeom prst="line">
            <a:avLst/>
          </a:prstGeom>
          <a:noFill/>
          <a:ln w="15875">
            <a:solidFill>
              <a:srgbClr val="0045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29500" y="4151376"/>
            <a:ext cx="0" cy="274320"/>
          </a:xfrm>
          <a:prstGeom prst="line">
            <a:avLst/>
          </a:prstGeom>
          <a:noFill/>
          <a:ln w="15875">
            <a:solidFill>
              <a:srgbClr val="0045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64140" y="4151376"/>
            <a:ext cx="0" cy="274320"/>
          </a:xfrm>
          <a:prstGeom prst="line">
            <a:avLst/>
          </a:prstGeom>
          <a:noFill/>
          <a:ln w="15875">
            <a:solidFill>
              <a:srgbClr val="0045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9380" y="4425696"/>
            <a:ext cx="192024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9380" y="44256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56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기획반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04020" y="4425696"/>
            <a:ext cx="192024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04020" y="44256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56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구축반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84048" y="5440680"/>
            <a:ext cx="45720" cy="566928"/>
          </a:xfrm>
          <a:prstGeom prst="rect">
            <a:avLst/>
          </a:prstGeom>
          <a:solidFill>
            <a:srgbClr val="1E60A0"/>
          </a:solidFill>
          <a:ln w="12700">
            <a:solidFill>
              <a:srgbClr val="1E60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5440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상자마다 색을 지정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6928" y="5733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{fill=#C00000 color=#FFFFFF}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242816" y="5440680"/>
            <a:ext cx="45720" cy="566928"/>
          </a:xfrm>
          <a:prstGeom prst="rect">
            <a:avLst/>
          </a:prstGeom>
          <a:solidFill>
            <a:srgbClr val="1E60A0"/>
          </a:solidFill>
          <a:ln w="12700">
            <a:solidFill>
              <a:srgbClr val="1E60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25696" y="5440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8개가 넘으면 자동 전환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25696" y="5733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세로 목록형 — 폭이 늘지 않는다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101584" y="5440680"/>
            <a:ext cx="45720" cy="566928"/>
          </a:xfrm>
          <a:prstGeom prst="rect">
            <a:avLst/>
          </a:prstGeom>
          <a:solidFill>
            <a:srgbClr val="1E60A0"/>
          </a:solidFill>
          <a:ln w="12700">
            <a:solidFill>
              <a:srgbClr val="1E60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84464" y="5440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그림(PNG·스캔)은 못 읽음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84464" y="5733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AI에게 문법으로 받아쓰게 우회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91440" cy="502920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품질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29184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믿을 수 있게 만드는 장치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704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3층 검사 — 만들기 전에 걸러 낸다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664208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2048256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입력 검사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21792" y="2432304"/>
            <a:ext cx="3090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계층 균형 · 기호 중복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온점 · 각주 번호 자리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50208" y="1572768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60A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15968" y="1572768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EFF6FF"/>
          </a:solidFill>
          <a:ln w="12700">
            <a:solidFill>
              <a:srgbClr val="C6D9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15968" y="1664208"/>
            <a:ext cx="54864" cy="1508760"/>
          </a:xfrm>
          <a:prstGeom prst="rect">
            <a:avLst/>
          </a:prstGeom>
          <a:solidFill>
            <a:srgbClr val="00457C"/>
          </a:solidFill>
          <a:ln w="12700">
            <a:solidFill>
              <a:srgbClr val="0045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457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53712" y="2048256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구조 검사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53712" y="2432304"/>
            <a:ext cx="3090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알 수 없는 스타일 · 기호 이중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걸리면 파일을 아예 안 만든다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82128" y="1572768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60A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247888" y="1572768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47888" y="1664208"/>
            <a:ext cx="54864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85632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B98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85632" y="2048256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산출물 검사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85632" y="2432304"/>
            <a:ext cx="3090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zip 정상 · XML 파싱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표준 판독기로 다시 읽기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84048" y="3584448"/>
            <a:ext cx="69037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675888"/>
            <a:ext cx="54864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4904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두 엔진 대조 — 같은 입력에 같은 산출물인가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40080" y="4160520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160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파이썬 엔진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74320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⇄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3291840" y="4160520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4160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브라우저 엔진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532120" y="4160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63E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CI가 매번 대조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008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양식 5종 × 기호 3갈래 · 문서 10종 · 되돌리기 · 도식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607808" y="3584448"/>
            <a:ext cx="4206240" cy="1783080"/>
          </a:xfrm>
          <a:prstGeom prst="roundRect">
            <a:avLst>
              <a:gd name="adj" fmla="val 3077"/>
            </a:avLst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3712464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256</a:t>
            </a:r>
            <a:endParaRPr lang="en-US" sz="4800" dirty="0"/>
          </a:p>
        </p:txBody>
      </p:sp>
      <p:sp>
        <p:nvSpPr>
          <p:cNvPr id="36" name="Text 34"/>
          <p:cNvSpPr/>
          <p:nvPr/>
        </p:nvSpPr>
        <p:spPr>
          <a:xfrm>
            <a:off x="7863840" y="451713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자동 시험 통과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863840" y="482803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D9E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XML · 각주 · 도식 · 양식 보존 · 브라우저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84048" y="5596128"/>
            <a:ext cx="45720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" y="55961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1C1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정직하게 남기는 것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5216" y="590702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한글에서 열어 보는 최종 확인은 사람이 한다 · 그림에서 도식 읽기는 미구현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3108960" y="55961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확인한 것과 못 한 것을 README 표에 그대로 적어 둔다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2026-09-03T22:10:12Z</dcterms:created>
  <dcterms:modified xsi:type="dcterms:W3CDTF">2026-09-03T22:10:12Z</dcterms:modified>
</cp:coreProperties>
</file>